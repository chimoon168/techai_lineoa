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56845A2-33AF-4EB2-B6FD-D85CFD9157A1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2476500" cy="323850"/>
          </a:xfrm>
          <a:prstGeom prst="roundRect">
            <a:avLst>
              <a:gd name="adj" fmla="val 47059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A391EF-2321-4C5A-9325-89B787F37E4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技術處｜辦公室自動化提案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121710-0A2B-4805-9133-A7DA1E35B99D}"/>
              </a:ext>
            </a:extLst>
          </p:cNvPr>
          <p:cNvSpPr>
            <a:spLocks noGrp="1"/>
          </p:cNvSpPr>
          <p:nvPr/>
        </p:nvSpPr>
        <p:spPr>
          <a:xfrm>
            <a:off x="514350" y="1295400"/>
            <a:ext cx="647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9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技術處辦公室自動化</a:t>
            </a:r>
          </a:p>
          <a:p>
            <a:pPr algn="l">
              <a:defRPr sz="39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LINE AI方案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9F6402-CAD1-4AF9-ABED-DF14952F8BDF}"/>
              </a:ext>
            </a:extLst>
          </p:cNvPr>
          <p:cNvSpPr>
            <a:spLocks noGrp="1"/>
          </p:cNvSpPr>
          <p:nvPr/>
        </p:nvSpPr>
        <p:spPr>
          <a:xfrm>
            <a:off x="552450" y="3381375"/>
            <a:ext cx="619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結合 LINE API × Gemini AI，打造身份分眾、群聊彙整與語音祕書「小露露」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E1DE183-EE51-4CA9-B0B8-1F6E5B79BFF6}"/>
              </a:ext>
            </a:extLst>
          </p:cNvPr>
          <p:cNvSpPr>
            <a:spLocks noGrp="1"/>
          </p:cNvSpPr>
          <p:nvPr/>
        </p:nvSpPr>
        <p:spPr>
          <a:xfrm>
            <a:off x="7810500" y="857250"/>
            <a:ext cx="3429000" cy="4762500"/>
          </a:xfrm>
          <a:prstGeom prst="roundRect">
            <a:avLst>
              <a:gd name="adj" fmla="val 6667"/>
            </a:avLst>
          </a:prstGeom>
          <a:solidFill>
            <a:srgbClr val="F1FBF5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AF79D26-5044-4043-8455-5ED2B7791A39}"/>
              </a:ext>
            </a:extLst>
          </p:cNvPr>
          <p:cNvSpPr>
            <a:spLocks noGrp="1"/>
          </p:cNvSpPr>
          <p:nvPr/>
        </p:nvSpPr>
        <p:spPr>
          <a:xfrm>
            <a:off x="8382000" y="1428750"/>
            <a:ext cx="2286000" cy="4000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13F3A6-2F60-4E0B-8D26-0F0A56EF7125}"/>
              </a:ext>
            </a:extLst>
          </p:cNvPr>
          <p:cNvSpPr>
            <a:spLocks noGrp="1"/>
          </p:cNvSpPr>
          <p:nvPr/>
        </p:nvSpPr>
        <p:spPr>
          <a:xfrm>
            <a:off x="8810625" y="179070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792" lnSpcReduction="10000"/>
          </a:bodyPr>
          <a:lstStyle/>
          <a:p>
            <a:pPr algn="ctr">
              <a:defRPr sz="240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B43AE05-20C4-4199-B2C8-2A4D20D60D80}"/>
              </a:ext>
            </a:extLst>
          </p:cNvPr>
          <p:cNvSpPr>
            <a:spLocks noGrp="1"/>
          </p:cNvSpPr>
          <p:nvPr/>
        </p:nvSpPr>
        <p:spPr>
          <a:xfrm>
            <a:off x="8715375" y="2476500"/>
            <a:ext cx="1619250" cy="609600"/>
          </a:xfrm>
          <a:prstGeom prst="roundRect">
            <a:avLst>
              <a:gd name="adj" fmla="val 25000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2C2EEF-20FC-4F24-A493-B062FC530B2C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000" lnSpcReduction="10000"/>
          </a:bodyPr>
          <a:lstStyle/>
          <a:p>
            <a:pPr algn="ctr">
              <a:defRPr sz="15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今日工作摘要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C73D92C-321C-4C24-A922-A7607B75E3E7}"/>
              </a:ext>
            </a:extLst>
          </p:cNvPr>
          <p:cNvSpPr>
            <a:spLocks noGrp="1"/>
          </p:cNvSpPr>
          <p:nvPr/>
        </p:nvSpPr>
        <p:spPr>
          <a:xfrm>
            <a:off x="8715375" y="3286125"/>
            <a:ext cx="1619250" cy="9144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9525">
            <a:solidFill>
              <a:srgbClr val="DCE8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D111B1-F328-42E5-971F-C07F63E9CDC5}"/>
              </a:ext>
            </a:extLst>
          </p:cNvPr>
          <p:cNvSpPr>
            <a:spLocks noGrp="1"/>
          </p:cNvSpPr>
          <p:nvPr/>
        </p:nvSpPr>
        <p:spPr>
          <a:xfrm>
            <a:off x="8858250" y="3476625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小露露已完成</a:t>
            </a:r>
          </a:p>
          <a:p>
            <a:pPr algn="ctr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語音摘要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C483357-69CA-4C4A-8672-FDC02ACED32C}"/>
              </a:ext>
            </a:extLst>
          </p:cNvPr>
          <p:cNvSpPr>
            <a:spLocks noGrp="1"/>
          </p:cNvSpPr>
          <p:nvPr/>
        </p:nvSpPr>
        <p:spPr>
          <a:xfrm>
            <a:off x="8715375" y="4419600"/>
            <a:ext cx="1619250" cy="533400"/>
          </a:xfrm>
          <a:prstGeom prst="roundRect">
            <a:avLst>
              <a:gd name="adj" fmla="val 28571"/>
            </a:avLst>
          </a:prstGeom>
          <a:solidFill>
            <a:srgbClr val="F4EEFC"/>
          </a:solidFill>
          <a:ln w="9525">
            <a:solidFill>
              <a:srgbClr val="E8DDF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2CFBFE-1F4B-46CA-AA59-CD532A504659}"/>
              </a:ext>
            </a:extLst>
          </p:cNvPr>
          <p:cNvSpPr>
            <a:spLocks noGrp="1"/>
          </p:cNvSpPr>
          <p:nvPr/>
        </p:nvSpPr>
        <p:spPr>
          <a:xfrm>
            <a:off x="8829675" y="4552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33"/>
          </a:bodyPr>
          <a:lstStyle/>
          <a:p>
            <a:pPr algn="ctr">
              <a:defRPr sz="120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開啟 Google Doc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2CA797-745C-464D-B257-11DD889A7629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提案人：高千月 系統分析師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4D21E-154A-465C-8751-789DE0DD5978}"/>
              </a:ext>
            </a:extLst>
          </p:cNvPr>
          <p:cNvSpPr>
            <a:spLocks noGrp="1"/>
          </p:cNvSpPr>
          <p:nvPr/>
        </p:nvSpPr>
        <p:spPr>
          <a:xfrm>
            <a:off x="10287000" y="61722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12615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C5D3C8F-CEB1-4738-9963-191E3B0337F8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群組訊息很多，但工作資訊仍靠人工整理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64BBA8-9BCD-4C9E-94ED-2B3A917AF383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我們缺的不是更多訊息，而是把訊息轉成任務、紀錄與可追蹤成果的機制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A2689D-3C07-4AB5-96EB-0DFB271C6D06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1AE090-348D-48CE-BABF-3203092FDC17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1490ACC-08F6-47DD-A5FF-0F1A2687FA36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76200" cy="3905250"/>
          </a:xfrm>
          <a:prstGeom prst="roundRect">
            <a:avLst>
              <a:gd name="adj" fmla="val 50000"/>
            </a:avLst>
          </a:prstGeom>
          <a:solidFill>
            <a:srgbClr val="E15B64"/>
          </a:solidFill>
          <a:ln w="9525">
            <a:solidFill>
              <a:srgbClr val="E15B6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A1A358-81A8-4569-8FCB-5693FF69B99E}"/>
              </a:ext>
            </a:extLst>
          </p:cNvPr>
          <p:cNvSpPr>
            <a:spLocks noGrp="1"/>
          </p:cNvSpPr>
          <p:nvPr/>
        </p:nvSpPr>
        <p:spPr>
          <a:xfrm>
            <a:off x="78105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rPr>
              <a:t>01｜訊息散落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69C7D-7175-40F3-9528-D90191151737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重要事項容易被洗掉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F9836F-B281-45E4-BF37-ABE8AEC52786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291465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決策、承諾與待辦分散在多個群組；隔天回頭搜尋耗時，也容易遺漏。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A432683-E1C0-496D-B06B-2CA6F368D4B8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CCC4D6D-3CCF-4970-B1AD-C816E327FF21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6200" cy="390525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EEF3CC-2596-4632-A421-B32E2BF3B82F}"/>
              </a:ext>
            </a:extLst>
          </p:cNvPr>
          <p:cNvSpPr>
            <a:spLocks noGrp="1"/>
          </p:cNvSpPr>
          <p:nvPr/>
        </p:nvSpPr>
        <p:spPr>
          <a:xfrm>
            <a:off x="464820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rPr>
              <a:t>02｜整理耗時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AF4DC3-AD1A-4D59-AF0C-8B047E3D72DC}"/>
              </a:ext>
            </a:extLst>
          </p:cNvPr>
          <p:cNvSpPr>
            <a:spLocks noGrp="1"/>
          </p:cNvSpPr>
          <p:nvPr/>
        </p:nvSpPr>
        <p:spPr>
          <a:xfrm>
            <a:off x="464820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每日彙整仰賴人工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647358-43D4-440C-804F-DBBC82C6AC6B}"/>
              </a:ext>
            </a:extLst>
          </p:cNvPr>
          <p:cNvSpPr>
            <a:spLocks noGrp="1"/>
          </p:cNvSpPr>
          <p:nvPr/>
        </p:nvSpPr>
        <p:spPr>
          <a:xfrm>
            <a:off x="4648200" y="2771775"/>
            <a:ext cx="291465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各項業務</a:t>
            </a:r>
            <a:r>
              <a:rPr sz="1350" b="0" dirty="0" err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窗口</a:t>
            </a:r>
            <a:r>
              <a:rPr lang="en-US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lang="zh-TW" altLang="en-US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主管</a:t>
            </a:r>
            <a:r>
              <a:rPr lang="en-US" altLang="zh-TW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, PM, </a:t>
            </a:r>
            <a:r>
              <a:rPr lang="zh-TW" altLang="en-US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營業單位如採購等</a:t>
            </a:r>
            <a:r>
              <a:rPr lang="en-US" altLang="zh-TW"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r>
              <a:rPr sz="1350" b="0" dirty="0" err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需重新閱讀大量對話，再整理工作摘要、負責人與截止日</a:t>
            </a:r>
            <a:r>
              <a:rPr sz="13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E011829-65F7-4EF1-8CE8-AE100AED0874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B6F2149-91BD-4219-8950-3F7944F5DAE9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76200" cy="390525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B81AFC-FD01-40C4-8912-8012F1FDC6C8}"/>
              </a:ext>
            </a:extLst>
          </p:cNvPr>
          <p:cNvSpPr>
            <a:spLocks noGrp="1"/>
          </p:cNvSpPr>
          <p:nvPr/>
        </p:nvSpPr>
        <p:spPr>
          <a:xfrm>
            <a:off x="851535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03｜語音難留存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44FD24-757C-4B2B-9F45-0AC7EB4A020E}"/>
              </a:ext>
            </a:extLst>
          </p:cNvPr>
          <p:cNvSpPr>
            <a:spLocks noGrp="1"/>
          </p:cNvSpPr>
          <p:nvPr/>
        </p:nvSpPr>
        <p:spPr>
          <a:xfrm>
            <a:off x="851535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語音無法快速搜尋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3AC5A3-E3BF-424E-AA54-903793481A32}"/>
              </a:ext>
            </a:extLst>
          </p:cNvPr>
          <p:cNvSpPr>
            <a:spLocks noGrp="1"/>
          </p:cNvSpPr>
          <p:nvPr/>
        </p:nvSpPr>
        <p:spPr>
          <a:xfrm>
            <a:off x="8515350" y="2771775"/>
            <a:ext cx="291465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長語音需逐段重聽，內容不易被搜尋、引用、交接或形成正式紀錄。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BB6CFAB-47FE-4C8C-A6E3-F04E4500A1DE}"/>
              </a:ext>
            </a:extLst>
          </p:cNvPr>
          <p:cNvSpPr>
            <a:spLocks noGrp="1"/>
          </p:cNvSpPr>
          <p:nvPr/>
        </p:nvSpPr>
        <p:spPr>
          <a:xfrm>
            <a:off x="3524250" y="5905500"/>
            <a:ext cx="5143500" cy="323850"/>
          </a:xfrm>
          <a:prstGeom prst="roundRect">
            <a:avLst>
              <a:gd name="adj" fmla="val 47059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39CF43-3639-43BE-A9D7-4C330AE34E92}"/>
              </a:ext>
            </a:extLst>
          </p:cNvPr>
          <p:cNvSpPr>
            <a:spLocks noGrp="1"/>
          </p:cNvSpPr>
          <p:nvPr/>
        </p:nvSpPr>
        <p:spPr>
          <a:xfrm>
            <a:off x="3619500" y="5943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提案目標：讓 LINE 從溝通工具，升級為工作資訊入口</a:t>
            </a:r>
          </a:p>
        </p:txBody>
      </p:sp>
    </p:spTree>
    <p:extLst>
      <p:ext uri="{BB962C8B-B14F-4D97-AF65-F5344CB8AC3E}">
        <p14:creationId xmlns:p14="http://schemas.microsoft.com/office/powerpoint/2010/main" val="15922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F187377-9B20-4C77-AEC9-A767585DBF95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一個機器人，完成三項辦公室自動化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0D35C-B011-4C56-999F-80860072E3FC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先聚焦高頻、重複、可標準化的工作，再逐步擴充情境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6CF015-6C19-4408-941F-2376E20608EB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939FCFB-0089-4DBB-A780-848AFE876C2C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A52083-BDFF-4E93-940F-C30007068316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76200" cy="3429000"/>
          </a:xfrm>
          <a:prstGeom prst="roundRect">
            <a:avLst>
              <a:gd name="adj" fmla="val 50000"/>
            </a:avLst>
          </a:prstGeom>
          <a:solidFill>
            <a:srgbClr val="06C755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2E6368-4582-4BA3-AA72-9F9013273CA8}"/>
              </a:ext>
            </a:extLst>
          </p:cNvPr>
          <p:cNvSpPr>
            <a:spLocks noGrp="1"/>
          </p:cNvSpPr>
          <p:nvPr/>
        </p:nvSpPr>
        <p:spPr>
          <a:xfrm>
            <a:off x="78105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能力一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E8108D-E714-4BFB-B4C8-D7895E5D550A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員工身份綁定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CA17F4-B049-4EBD-8CF2-EECE5687DEEC}"/>
              </a:ext>
            </a:extLst>
          </p:cNvPr>
          <p:cNvSpPr>
            <a:spLocks noGrp="1"/>
          </p:cNvSpPr>
          <p:nvPr/>
        </p:nvSpPr>
        <p:spPr>
          <a:xfrm>
            <a:off x="781050" y="2771775"/>
            <a:ext cx="29146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綁定員工編號、單位與角色，建立可管理的分眾名單，精準推播技術公告與待辦提醒。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B174A1C-CDEF-41CA-B33A-CE419964B5F2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CCB48FD-AE79-4F8E-8860-A4EC42551840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6200" cy="34290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AB51FA-67BA-4B75-A633-A6EBC8C286F8}"/>
              </a:ext>
            </a:extLst>
          </p:cNvPr>
          <p:cNvSpPr>
            <a:spLocks noGrp="1"/>
          </p:cNvSpPr>
          <p:nvPr/>
        </p:nvSpPr>
        <p:spPr>
          <a:xfrm>
            <a:off x="464820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能力二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4D8E32-14E1-4D06-A6E4-1409A45065E9}"/>
              </a:ext>
            </a:extLst>
          </p:cNvPr>
          <p:cNvSpPr>
            <a:spLocks noGrp="1"/>
          </p:cNvSpPr>
          <p:nvPr/>
        </p:nvSpPr>
        <p:spPr>
          <a:xfrm>
            <a:off x="464820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群聊 Daily 彙整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62D70-9650-497A-ABE4-A952F6749B38}"/>
              </a:ext>
            </a:extLst>
          </p:cNvPr>
          <p:cNvSpPr>
            <a:spLocks noGrp="1"/>
          </p:cNvSpPr>
          <p:nvPr/>
        </p:nvSpPr>
        <p:spPr>
          <a:xfrm>
            <a:off x="4648200" y="2771775"/>
            <a:ext cx="29146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每天解析群組對話，產出工作摘要、重要決策、待追蹤事項、負責人與預計完成日。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522763-0972-4FDC-A796-4C14EE5203C4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CE14287-19DB-402A-8B92-E7DFC6D81F6B}"/>
              </a:ext>
            </a:extLst>
          </p:cNvPr>
          <p:cNvSpPr>
            <a:spLocks noGrp="1"/>
          </p:cNvSpPr>
          <p:nvPr/>
        </p:nvSpPr>
        <p:spPr>
          <a:xfrm>
            <a:off x="8248650" y="1666875"/>
            <a:ext cx="76200" cy="3429000"/>
          </a:xfrm>
          <a:prstGeom prst="roundRect">
            <a:avLst>
              <a:gd name="adj" fmla="val 50000"/>
            </a:avLst>
          </a:prstGeom>
          <a:solidFill>
            <a:srgbClr val="9B72CB"/>
          </a:solidFill>
          <a:ln w="9525">
            <a:solidFill>
              <a:srgbClr val="9B72C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D44A41-F077-45DE-B4AC-802450A43FC2}"/>
              </a:ext>
            </a:extLst>
          </p:cNvPr>
          <p:cNvSpPr>
            <a:spLocks noGrp="1"/>
          </p:cNvSpPr>
          <p:nvPr/>
        </p:nvSpPr>
        <p:spPr>
          <a:xfrm>
            <a:off x="8515350" y="1876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14" lnSpcReduction="10000"/>
          </a:bodyPr>
          <a:lstStyle/>
          <a:p>
            <a:pPr algn="l">
              <a:defRPr sz="105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能力三｜小露露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892F55-9F1F-4801-A26B-DE9B32E7B6C4}"/>
              </a:ext>
            </a:extLst>
          </p:cNvPr>
          <p:cNvSpPr>
            <a:spLocks noGrp="1"/>
          </p:cNvSpPr>
          <p:nvPr/>
        </p:nvSpPr>
        <p:spPr>
          <a:xfrm>
            <a:off x="8515350" y="2219325"/>
            <a:ext cx="293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語音轉文字與摘要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526E32-45BE-4BEE-9612-0579C104DC2F}"/>
              </a:ext>
            </a:extLst>
          </p:cNvPr>
          <p:cNvSpPr>
            <a:spLocks noGrp="1"/>
          </p:cNvSpPr>
          <p:nvPr/>
        </p:nvSpPr>
        <p:spPr>
          <a:xfrm>
            <a:off x="8515350" y="2771775"/>
            <a:ext cx="29146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收到語音後自動轉錄，摘要寫入 Google Doc，將 URL 回傳群組，並納入 Daily 報告。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F40B20-E360-448F-A983-155E0FBD6002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389" lnSpcReduction="10000"/>
          </a:bodyPr>
          <a:lstStyle/>
          <a:p>
            <a:pPr algn="ctr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員工綁定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D4F460-2A22-4974-A83B-A2E08851A75F}"/>
              </a:ext>
            </a:extLst>
          </p:cNvPr>
          <p:cNvSpPr>
            <a:spLocks noGrp="1"/>
          </p:cNvSpPr>
          <p:nvPr/>
        </p:nvSpPr>
        <p:spPr>
          <a:xfrm>
            <a:off x="2762250" y="5524500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1B5670-BCCF-4B4C-9512-FE9E5653A876}"/>
              </a:ext>
            </a:extLst>
          </p:cNvPr>
          <p:cNvSpPr>
            <a:spLocks noGrp="1"/>
          </p:cNvSpPr>
          <p:nvPr/>
        </p:nvSpPr>
        <p:spPr>
          <a:xfrm>
            <a:off x="3429000" y="55721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389" lnSpcReduction="10000"/>
          </a:bodyPr>
          <a:lstStyle/>
          <a:p>
            <a:pPr algn="ctr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訊息理解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1F07C08-AFC2-41D3-8680-22E78428589A}"/>
              </a:ext>
            </a:extLst>
          </p:cNvPr>
          <p:cNvSpPr>
            <a:spLocks noGrp="1"/>
          </p:cNvSpPr>
          <p:nvPr/>
        </p:nvSpPr>
        <p:spPr>
          <a:xfrm>
            <a:off x="5143500" y="5524500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42A960-CC6C-4B40-A754-045B6E93925C}"/>
              </a:ext>
            </a:extLst>
          </p:cNvPr>
          <p:cNvSpPr>
            <a:spLocks noGrp="1"/>
          </p:cNvSpPr>
          <p:nvPr/>
        </p:nvSpPr>
        <p:spPr>
          <a:xfrm>
            <a:off x="5810250" y="55721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389" lnSpcReduction="10000"/>
          </a:bodyPr>
          <a:lstStyle/>
          <a:p>
            <a:pPr algn="ctr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文件沉澱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8F45F-96FE-4801-AD7D-D070BEA4219A}"/>
              </a:ext>
            </a:extLst>
          </p:cNvPr>
          <p:cNvSpPr>
            <a:spLocks noGrp="1"/>
          </p:cNvSpPr>
          <p:nvPr/>
        </p:nvSpPr>
        <p:spPr>
          <a:xfrm>
            <a:off x="7524750" y="5524500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72E422-964A-4011-9D78-255E418EC3E5}"/>
              </a:ext>
            </a:extLst>
          </p:cNvPr>
          <p:cNvSpPr>
            <a:spLocks noGrp="1"/>
          </p:cNvSpPr>
          <p:nvPr/>
        </p:nvSpPr>
        <p:spPr>
          <a:xfrm>
            <a:off x="8191500" y="55721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389" lnSpcReduction="10000"/>
          </a:bodyPr>
          <a:lstStyle/>
          <a:p>
            <a:pPr algn="ctr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追蹤與推播</a:t>
            </a:r>
          </a:p>
        </p:txBody>
      </p:sp>
    </p:spTree>
    <p:extLst>
      <p:ext uri="{BB962C8B-B14F-4D97-AF65-F5344CB8AC3E}">
        <p14:creationId xmlns:p14="http://schemas.microsoft.com/office/powerpoint/2010/main" val="194214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C05A3A0-42B3-4312-91FE-C871A7D52DBD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身份綁定讓每則推播都找得到正確的人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B683EB-72A6-4F16-B383-FA984AC71957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以最小必要資料建立 LINE User ID 與全聯員工身份的安全對應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0BAAA-9D52-44EE-BA23-4B21282E2C46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59229C5-C655-4B8A-98F3-ADAC209CB761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8097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3D1FD2-CA35-43D6-8678-3958F0D8E6CD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EBF024-C46A-42D5-930F-D17193185066}"/>
              </a:ext>
            </a:extLst>
          </p:cNvPr>
          <p:cNvSpPr>
            <a:spLocks noGrp="1"/>
          </p:cNvSpPr>
          <p:nvPr/>
        </p:nvSpPr>
        <p:spPr>
          <a:xfrm>
            <a:off x="742950" y="2505075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加入官方帳號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117287-6044-4D81-9D01-C3055C8DB18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LINE User ID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0DA574-74C1-4C38-B398-4986CB288160}"/>
              </a:ext>
            </a:extLst>
          </p:cNvPr>
          <p:cNvSpPr>
            <a:spLocks noGrp="1"/>
          </p:cNvSpPr>
          <p:nvPr/>
        </p:nvSpPr>
        <p:spPr>
          <a:xfrm>
            <a:off x="24003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0208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F8BB9AD-D7D1-450B-8575-3714A1367920}"/>
              </a:ext>
            </a:extLst>
          </p:cNvPr>
          <p:cNvSpPr>
            <a:spLocks noGrp="1"/>
          </p:cNvSpPr>
          <p:nvPr/>
        </p:nvSpPr>
        <p:spPr>
          <a:xfrm>
            <a:off x="2857500" y="1952625"/>
            <a:ext cx="18097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38A1BA-8909-4E3A-9D09-EEEBFE1EB83B}"/>
              </a:ext>
            </a:extLst>
          </p:cNvPr>
          <p:cNvSpPr>
            <a:spLocks noGrp="1"/>
          </p:cNvSpPr>
          <p:nvPr/>
        </p:nvSpPr>
        <p:spPr>
          <a:xfrm>
            <a:off x="3028950" y="2114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6C6E9C-3090-4FF9-82F7-9D65D947BA7B}"/>
              </a:ext>
            </a:extLst>
          </p:cNvPr>
          <p:cNvSpPr>
            <a:spLocks noGrp="1"/>
          </p:cNvSpPr>
          <p:nvPr/>
        </p:nvSpPr>
        <p:spPr>
          <a:xfrm>
            <a:off x="3028950" y="2505075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開啟綁定頁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59A0A6-3319-4D15-A541-613B6856F486}"/>
              </a:ext>
            </a:extLst>
          </p:cNvPr>
          <p:cNvSpPr>
            <a:spLocks noGrp="1"/>
          </p:cNvSpPr>
          <p:nvPr/>
        </p:nvSpPr>
        <p:spPr>
          <a:xfrm>
            <a:off x="3028950" y="30670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一次性連結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12047-8F48-4518-B659-02B184F66C14}"/>
              </a:ext>
            </a:extLst>
          </p:cNvPr>
          <p:cNvSpPr>
            <a:spLocks noGrp="1"/>
          </p:cNvSpPr>
          <p:nvPr/>
        </p:nvSpPr>
        <p:spPr>
          <a:xfrm>
            <a:off x="46863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0208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0070A31-74F8-46CA-953D-0F90227F7B90}"/>
              </a:ext>
            </a:extLst>
          </p:cNvPr>
          <p:cNvSpPr>
            <a:spLocks noGrp="1"/>
          </p:cNvSpPr>
          <p:nvPr/>
        </p:nvSpPr>
        <p:spPr>
          <a:xfrm>
            <a:off x="5143500" y="1952625"/>
            <a:ext cx="18097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47CA03-69D8-45EE-AD32-BF50BB4CF695}"/>
              </a:ext>
            </a:extLst>
          </p:cNvPr>
          <p:cNvSpPr>
            <a:spLocks noGrp="1"/>
          </p:cNvSpPr>
          <p:nvPr/>
        </p:nvSpPr>
        <p:spPr>
          <a:xfrm>
            <a:off x="5314950" y="2114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EC5BA3-2242-459A-B2EA-3646F634C54E}"/>
              </a:ext>
            </a:extLst>
          </p:cNvPr>
          <p:cNvSpPr>
            <a:spLocks noGrp="1"/>
          </p:cNvSpPr>
          <p:nvPr/>
        </p:nvSpPr>
        <p:spPr>
          <a:xfrm>
            <a:off x="5314950" y="2505075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公司身份驗證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17B013-2943-4B64-B3CC-2F85E552E94E}"/>
              </a:ext>
            </a:extLst>
          </p:cNvPr>
          <p:cNvSpPr>
            <a:spLocks noGrp="1"/>
          </p:cNvSpPr>
          <p:nvPr/>
        </p:nvSpPr>
        <p:spPr>
          <a:xfrm>
            <a:off x="5314950" y="30670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SSO／OTP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23DC7-91A1-4644-B94B-9DD43AD4C751}"/>
              </a:ext>
            </a:extLst>
          </p:cNvPr>
          <p:cNvSpPr>
            <a:spLocks noGrp="1"/>
          </p:cNvSpPr>
          <p:nvPr/>
        </p:nvSpPr>
        <p:spPr>
          <a:xfrm>
            <a:off x="69723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0208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73106CA-2FDD-4C91-9A87-B9D34CC6DF4D}"/>
              </a:ext>
            </a:extLst>
          </p:cNvPr>
          <p:cNvSpPr>
            <a:spLocks noGrp="1"/>
          </p:cNvSpPr>
          <p:nvPr/>
        </p:nvSpPr>
        <p:spPr>
          <a:xfrm>
            <a:off x="7429500" y="1952625"/>
            <a:ext cx="18097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1A62D1-6A04-4FEA-B9F6-406B5066E924}"/>
              </a:ext>
            </a:extLst>
          </p:cNvPr>
          <p:cNvSpPr>
            <a:spLocks noGrp="1"/>
          </p:cNvSpPr>
          <p:nvPr/>
        </p:nvSpPr>
        <p:spPr>
          <a:xfrm>
            <a:off x="7600950" y="2114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0492C9E-AC48-44AA-A828-332963501919}"/>
              </a:ext>
            </a:extLst>
          </p:cNvPr>
          <p:cNvSpPr>
            <a:spLocks noGrp="1"/>
          </p:cNvSpPr>
          <p:nvPr/>
        </p:nvSpPr>
        <p:spPr>
          <a:xfrm>
            <a:off x="7600950" y="2505075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取得單位／角色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504A41-44A1-4F35-8DC4-EB536B7E357B}"/>
              </a:ext>
            </a:extLst>
          </p:cNvPr>
          <p:cNvSpPr>
            <a:spLocks noGrp="1"/>
          </p:cNvSpPr>
          <p:nvPr/>
        </p:nvSpPr>
        <p:spPr>
          <a:xfrm>
            <a:off x="7600950" y="30670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員工主檔 API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62D14E-F8FE-494C-91F5-4369BDAEC46A}"/>
              </a:ext>
            </a:extLst>
          </p:cNvPr>
          <p:cNvSpPr>
            <a:spLocks noGrp="1"/>
          </p:cNvSpPr>
          <p:nvPr/>
        </p:nvSpPr>
        <p:spPr>
          <a:xfrm>
            <a:off x="92583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0208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BAD600D-D594-4D68-A5B0-803CA16C4B91}"/>
              </a:ext>
            </a:extLst>
          </p:cNvPr>
          <p:cNvSpPr>
            <a:spLocks noGrp="1"/>
          </p:cNvSpPr>
          <p:nvPr/>
        </p:nvSpPr>
        <p:spPr>
          <a:xfrm>
            <a:off x="9715500" y="1952625"/>
            <a:ext cx="1809750" cy="1476375"/>
          </a:xfrm>
          <a:prstGeom prst="roundRect">
            <a:avLst>
              <a:gd name="adj" fmla="val 10323"/>
            </a:avLst>
          </a:prstGeom>
          <a:solidFill>
            <a:srgbClr val="DDF8E8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DFAAD8-3755-40E9-88D7-2664EF409F9D}"/>
              </a:ext>
            </a:extLst>
          </p:cNvPr>
          <p:cNvSpPr>
            <a:spLocks noGrp="1"/>
          </p:cNvSpPr>
          <p:nvPr/>
        </p:nvSpPr>
        <p:spPr>
          <a:xfrm>
            <a:off x="9886950" y="2114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C4A128-B22D-44C7-9B06-B297565BA710}"/>
              </a:ext>
            </a:extLst>
          </p:cNvPr>
          <p:cNvSpPr>
            <a:spLocks noGrp="1"/>
          </p:cNvSpPr>
          <p:nvPr/>
        </p:nvSpPr>
        <p:spPr>
          <a:xfrm>
            <a:off x="9886950" y="2505075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完成分眾標籤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4BBE92-500D-4ABB-A4F3-344C8A3921B0}"/>
              </a:ext>
            </a:extLst>
          </p:cNvPr>
          <p:cNvSpPr>
            <a:spLocks noGrp="1"/>
          </p:cNvSpPr>
          <p:nvPr/>
        </p:nvSpPr>
        <p:spPr>
          <a:xfrm>
            <a:off x="9886950" y="30670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依權限推播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ABB7CE2A-77CA-44F4-8F9A-3B8F74A77EE7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0858500" cy="1381125"/>
          </a:xfrm>
          <a:prstGeom prst="roundRect">
            <a:avLst>
              <a:gd name="adj" fmla="val 8276"/>
            </a:avLst>
          </a:prstGeom>
          <a:solidFill>
            <a:srgbClr val="F7F9F8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1428C5-8C7F-445E-A996-8ED49BF4138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推播範例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DE1990-15A1-4DF3-A260-976DC791174B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全體技術處：重大維護公告   ｜   商品中台組：上版提醒   ｜   專案成員：待辦到期通知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D990DE-393B-4D28-9690-F6AD9A41DF33}"/>
              </a:ext>
            </a:extLst>
          </p:cNvPr>
          <p:cNvSpPr>
            <a:spLocks noGrp="1"/>
          </p:cNvSpPr>
          <p:nvPr/>
        </p:nvSpPr>
        <p:spPr>
          <a:xfrm>
            <a:off x="781050" y="57626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治理原則：綁定需可解除、身份需定期同步、推播需保留紀錄，且不得在 LINE 儲存敏感員工資料。</a:t>
            </a:r>
          </a:p>
        </p:txBody>
      </p:sp>
    </p:spTree>
    <p:extLst>
      <p:ext uri="{BB962C8B-B14F-4D97-AF65-F5344CB8AC3E}">
        <p14:creationId xmlns:p14="http://schemas.microsoft.com/office/powerpoint/2010/main" val="177208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7E5E4C4-FA8C-4271-A02E-0E74C9F583B5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每天自動把群聊轉成一頁可追蹤的 Daily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CD8CC0-70F5-4D2F-80A2-E6470F2B7EA5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AI 協助整理，不取代負責人確認；高風險或不確定內容標示待確認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546D32-5C03-4734-AC81-63956B7C6504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58F5A43-84D5-45BE-84A2-6A6AA770BD19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3238500" cy="4000500"/>
          </a:xfrm>
          <a:prstGeom prst="roundRect">
            <a:avLst>
              <a:gd name="adj" fmla="val 4706"/>
            </a:avLst>
          </a:prstGeom>
          <a:solidFill>
            <a:srgbClr val="F5FBF7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056E66-E07C-4C2A-A621-1F1B9F490B80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000" lnSpcReduction="10000"/>
          </a:bodyPr>
          <a:lstStyle/>
          <a:p>
            <a:pPr algn="l">
              <a:defRPr sz="18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LINE 群對話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F1EA066-065E-4087-8B10-427434890B8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2667000" cy="476250"/>
          </a:xfrm>
          <a:prstGeom prst="roundRect">
            <a:avLst>
              <a:gd name="adj" fmla="val 24000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06B5D6-3AEB-431B-96D3-1BA471F5C057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917" lnSpcReduction="10000"/>
          </a:bodyPr>
          <a:lstStyle/>
          <a:p>
            <a:pPr algn="l">
              <a:def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Jenny：母表欄位今天確認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760FF17-C6D3-4074-A471-851176E8B963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4B6A74-054C-4361-8625-F826CDD5C503}"/>
              </a:ext>
            </a:extLst>
          </p:cNvPr>
          <p:cNvSpPr>
            <a:spLocks noGrp="1"/>
          </p:cNvSpPr>
          <p:nvPr/>
        </p:nvSpPr>
        <p:spPr>
          <a:xfrm>
            <a:off x="952500" y="3190875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917" lnSpcReduction="10000"/>
          </a:bodyPr>
          <a:lstStyle/>
          <a:p>
            <a:pPr algn="l">
              <a:def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Winnie：NN 特流程待對焦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CFEC225-C734-4DEE-9064-346C1BC9559E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2667000" cy="476250"/>
          </a:xfrm>
          <a:prstGeom prst="roundRect">
            <a:avLst>
              <a:gd name="adj" fmla="val 24000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0A4F2F-B5E6-4A3F-8B37-7E0305E9EAB8}"/>
              </a:ext>
            </a:extLst>
          </p:cNvPr>
          <p:cNvSpPr>
            <a:spLocks noGrp="1"/>
          </p:cNvSpPr>
          <p:nvPr/>
        </p:nvSpPr>
        <p:spPr>
          <a:xfrm>
            <a:off x="952500" y="3857625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917" lnSpcReduction="10000"/>
          </a:bodyPr>
          <a:lstStyle/>
          <a:p>
            <a:pPr algn="l">
              <a:def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PM：權限新版 7/30 上線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BC046CE-3950-4E6A-A434-D296E2D63DB6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26670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9888AA-A958-4574-9F0B-17DF1448E355}"/>
              </a:ext>
            </a:extLst>
          </p:cNvPr>
          <p:cNvSpPr>
            <a:spLocks noGrp="1"/>
          </p:cNvSpPr>
          <p:nvPr/>
        </p:nvSpPr>
        <p:spPr>
          <a:xfrm>
            <a:off x="952500" y="4524375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917" lnSpcReduction="10000"/>
          </a:bodyPr>
          <a:lstStyle/>
          <a:p>
            <a:pPr algn="l">
              <a:def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QE：明天下午回歸測試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7FC5C1-A560-4B62-83B8-1A123FC9F91A}"/>
              </a:ext>
            </a:extLst>
          </p:cNvPr>
          <p:cNvSpPr>
            <a:spLocks noGrp="1"/>
          </p:cNvSpPr>
          <p:nvPr/>
        </p:nvSpPr>
        <p:spPr>
          <a:xfrm>
            <a:off x="4000500" y="31432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4A11F48-6F1F-486B-BFEA-C48DA3C37403}"/>
              </a:ext>
            </a:extLst>
          </p:cNvPr>
          <p:cNvSpPr>
            <a:spLocks noGrp="1"/>
          </p:cNvSpPr>
          <p:nvPr/>
        </p:nvSpPr>
        <p:spPr>
          <a:xfrm>
            <a:off x="4810125" y="1619250"/>
            <a:ext cx="6810375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907480-D39F-4A49-B476-41E213FAB2AC}"/>
              </a:ext>
            </a:extLst>
          </p:cNvPr>
          <p:cNvSpPr>
            <a:spLocks noGrp="1"/>
          </p:cNvSpPr>
          <p:nvPr/>
        </p:nvSpPr>
        <p:spPr>
          <a:xfrm>
            <a:off x="5095875" y="18669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654" lnSpcReduction="10000"/>
          </a:bodyPr>
          <a:lstStyle/>
          <a:p>
            <a:pPr algn="l">
              <a:defRPr sz="20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2026/07/22 工作彙整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A316F92-6E32-4061-AB33-518849C522A8}"/>
              </a:ext>
            </a:extLst>
          </p:cNvPr>
          <p:cNvSpPr>
            <a:spLocks noGrp="1"/>
          </p:cNvSpPr>
          <p:nvPr/>
        </p:nvSpPr>
        <p:spPr>
          <a:xfrm>
            <a:off x="9810750" y="1885950"/>
            <a:ext cx="1428750" cy="323850"/>
          </a:xfrm>
          <a:prstGeom prst="roundRect">
            <a:avLst>
              <a:gd name="adj" fmla="val 47059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DA1D00-41C2-4C89-A911-9EFA5B124152}"/>
              </a:ext>
            </a:extLst>
          </p:cNvPr>
          <p:cNvSpPr>
            <a:spLocks noGrp="1"/>
          </p:cNvSpPr>
          <p:nvPr/>
        </p:nvSpPr>
        <p:spPr>
          <a:xfrm>
            <a:off x="9906000" y="19240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自動產生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949954-EE49-4D6B-AC66-6E940777F428}"/>
              </a:ext>
            </a:extLst>
          </p:cNvPr>
          <p:cNvSpPr>
            <a:spLocks noGrp="1"/>
          </p:cNvSpPr>
          <p:nvPr/>
        </p:nvSpPr>
        <p:spPr>
          <a:xfrm>
            <a:off x="5095875" y="24574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3426" lnSpcReduction="10000"/>
          </a:bodyPr>
          <a:lstStyle/>
          <a:p>
            <a:pPr algn="l">
              <a:def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今日進度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B8C284-772B-4773-AC2D-1F66EF4C5524}"/>
              </a:ext>
            </a:extLst>
          </p:cNvPr>
          <p:cNvSpPr>
            <a:spLocks noGrp="1"/>
          </p:cNvSpPr>
          <p:nvPr/>
        </p:nvSpPr>
        <p:spPr>
          <a:xfrm>
            <a:off x="5095875" y="28003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• 商品標籤母表欄位已進入確認</a:t>
            </a:r>
          </a:p>
          <a:p>
            <a:pPr algn="l">
              <a:def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• 新版權限管理預計 7/30 上線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516E04-3EFE-4159-984F-4C03A6E326A1}"/>
              </a:ext>
            </a:extLst>
          </p:cNvPr>
          <p:cNvSpPr>
            <a:spLocks noGrp="1"/>
          </p:cNvSpPr>
          <p:nvPr/>
        </p:nvSpPr>
        <p:spPr>
          <a:xfrm>
            <a:off x="5095875" y="3600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3426" lnSpcReduction="10000"/>
          </a:bodyPr>
          <a:lstStyle/>
          <a:p>
            <a:pPr algn="l">
              <a:defRPr sz="135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rPr>
              <a:t>待追蹤事項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20539FA-9C88-401F-8BB2-E7DB0BD6E1DB}"/>
              </a:ext>
            </a:extLst>
          </p:cNvPr>
          <p:cNvSpPr>
            <a:spLocks noGrp="1"/>
          </p:cNvSpPr>
          <p:nvPr/>
        </p:nvSpPr>
        <p:spPr>
          <a:xfrm>
            <a:off x="5095875" y="3943350"/>
            <a:ext cx="600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□ NN 特流程對焦｜Owner：Winnie｜期限：待確認</a:t>
            </a:r>
          </a:p>
          <a:p>
            <a:pPr algn="l">
              <a:def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□ QE 回歸測試｜Owner：QE｜期限：明日下午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0F4F8C-2AA4-4F48-8A53-96F9C68387A6}"/>
              </a:ext>
            </a:extLst>
          </p:cNvPr>
          <p:cNvSpPr>
            <a:spLocks noGrp="1"/>
          </p:cNvSpPr>
          <p:nvPr/>
        </p:nvSpPr>
        <p:spPr>
          <a:xfrm>
            <a:off x="5095875" y="483870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3426" lnSpcReduction="10000"/>
          </a:bodyPr>
          <a:lstStyle/>
          <a:p>
            <a:pPr algn="l">
              <a:defRPr sz="1350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rPr>
              <a:t>需確認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0A58D7-DC97-4B27-86AF-BB9F7FCEB2E9}"/>
              </a:ext>
            </a:extLst>
          </p:cNvPr>
          <p:cNvSpPr>
            <a:spLocks noGrp="1"/>
          </p:cNvSpPr>
          <p:nvPr/>
        </p:nvSpPr>
        <p:spPr>
          <a:xfrm>
            <a:off x="5095875" y="51816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 lnSpcReduction="10000"/>
          </a:bodyPr>
          <a:lstStyle/>
          <a:p>
            <a:pPr algn="l">
              <a:defRPr sz="135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「母表欄位確認」是否代表正式定版？</a:t>
            </a:r>
          </a:p>
        </p:txBody>
      </p:sp>
    </p:spTree>
    <p:extLst>
      <p:ext uri="{BB962C8B-B14F-4D97-AF65-F5344CB8AC3E}">
        <p14:creationId xmlns:p14="http://schemas.microsoft.com/office/powerpoint/2010/main" val="120849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5B02497A-28B3-408A-B660-31958A200D4B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小露露把語音變成可搜尋、可引用、可彙整的文件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2AB94B-9A0D-4D9C-9786-D9967F26FBAC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語音原檔、轉錄文字、摘要與每日報告形成完整資訊鏈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9B2344-ACE2-40B7-98B7-E75EC025A711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2410509-8D96-4D7E-B82B-BD0BB36BF2B6}"/>
              </a:ext>
            </a:extLst>
          </p:cNvPr>
          <p:cNvSpPr>
            <a:spLocks noGrp="1"/>
          </p:cNvSpPr>
          <p:nvPr/>
        </p:nvSpPr>
        <p:spPr>
          <a:xfrm>
            <a:off x="42862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B7C50F-1270-41C6-87D7-66AB90B1D678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83C36E-DC2B-49EB-855A-07C73B979EF7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收到語音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791C68-E42B-4C36-A044-4B8CF077E3D0}"/>
              </a:ext>
            </a:extLst>
          </p:cNvPr>
          <p:cNvSpPr>
            <a:spLocks noGrp="1"/>
          </p:cNvSpPr>
          <p:nvPr/>
        </p:nvSpPr>
        <p:spPr>
          <a:xfrm>
            <a:off x="54292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LINE Webhook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F68269-E2C9-4C8D-90E4-FBB5F53AD796}"/>
              </a:ext>
            </a:extLst>
          </p:cNvPr>
          <p:cNvSpPr>
            <a:spLocks noGrp="1"/>
          </p:cNvSpPr>
          <p:nvPr/>
        </p:nvSpPr>
        <p:spPr>
          <a:xfrm>
            <a:off x="1885950" y="2428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B75CADB-CCB3-4816-BF6E-8459032A6F08}"/>
              </a:ext>
            </a:extLst>
          </p:cNvPr>
          <p:cNvSpPr>
            <a:spLocks noGrp="1"/>
          </p:cNvSpPr>
          <p:nvPr/>
        </p:nvSpPr>
        <p:spPr>
          <a:xfrm>
            <a:off x="242887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F56E11-E35A-4A6D-89A1-67386AA13863}"/>
              </a:ext>
            </a:extLst>
          </p:cNvPr>
          <p:cNvSpPr>
            <a:spLocks noGrp="1"/>
          </p:cNvSpPr>
          <p:nvPr/>
        </p:nvSpPr>
        <p:spPr>
          <a:xfrm>
            <a:off x="257175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CFCF89-1170-4DCE-AAA5-5E166175A6CB}"/>
              </a:ext>
            </a:extLst>
          </p:cNvPr>
          <p:cNvSpPr>
            <a:spLocks noGrp="1"/>
          </p:cNvSpPr>
          <p:nvPr/>
        </p:nvSpPr>
        <p:spPr>
          <a:xfrm>
            <a:off x="257175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下載暫存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9CC6EB-9CBC-4EF5-8B7F-9D3B67345E79}"/>
              </a:ext>
            </a:extLst>
          </p:cNvPr>
          <p:cNvSpPr>
            <a:spLocks noGrp="1"/>
          </p:cNvSpPr>
          <p:nvPr/>
        </p:nvSpPr>
        <p:spPr>
          <a:xfrm>
            <a:off x="254317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短期加密保存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F80B3D-5E44-4D25-8D64-C8D0EC4B6239}"/>
              </a:ext>
            </a:extLst>
          </p:cNvPr>
          <p:cNvSpPr>
            <a:spLocks noGrp="1"/>
          </p:cNvSpPr>
          <p:nvPr/>
        </p:nvSpPr>
        <p:spPr>
          <a:xfrm>
            <a:off x="3886200" y="2428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9ED3AB0-5B95-4B0A-AFF4-317151E1C359}"/>
              </a:ext>
            </a:extLst>
          </p:cNvPr>
          <p:cNvSpPr>
            <a:spLocks noGrp="1"/>
          </p:cNvSpPr>
          <p:nvPr/>
        </p:nvSpPr>
        <p:spPr>
          <a:xfrm>
            <a:off x="442912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CCB88F-D701-4933-ABB6-34787E5F699A}"/>
              </a:ext>
            </a:extLst>
          </p:cNvPr>
          <p:cNvSpPr>
            <a:spLocks noGrp="1"/>
          </p:cNvSpPr>
          <p:nvPr/>
        </p:nvSpPr>
        <p:spPr>
          <a:xfrm>
            <a:off x="457200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D7D325-5D6F-4CD3-8ABE-66C9A5D93C57}"/>
              </a:ext>
            </a:extLst>
          </p:cNvPr>
          <p:cNvSpPr>
            <a:spLocks noGrp="1"/>
          </p:cNvSpPr>
          <p:nvPr/>
        </p:nvSpPr>
        <p:spPr>
          <a:xfrm>
            <a:off x="457200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語音轉文字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C140E4-CC07-4A33-93A4-30E9A5B9C835}"/>
              </a:ext>
            </a:extLst>
          </p:cNvPr>
          <p:cNvSpPr>
            <a:spLocks noGrp="1"/>
          </p:cNvSpPr>
          <p:nvPr/>
        </p:nvSpPr>
        <p:spPr>
          <a:xfrm>
            <a:off x="454342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含時間戳記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782122-5D05-4416-94BD-19352AB7EF61}"/>
              </a:ext>
            </a:extLst>
          </p:cNvPr>
          <p:cNvSpPr>
            <a:spLocks noGrp="1"/>
          </p:cNvSpPr>
          <p:nvPr/>
        </p:nvSpPr>
        <p:spPr>
          <a:xfrm>
            <a:off x="5886450" y="2428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D7FCCF3-F80D-4483-9317-CAAC596AE300}"/>
              </a:ext>
            </a:extLst>
          </p:cNvPr>
          <p:cNvSpPr>
            <a:spLocks noGrp="1"/>
          </p:cNvSpPr>
          <p:nvPr/>
        </p:nvSpPr>
        <p:spPr>
          <a:xfrm>
            <a:off x="642937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4EEFC"/>
          </a:solidFill>
          <a:ln w="9525">
            <a:solidFill>
              <a:srgbClr val="DCC9E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46E384-8D74-4FC3-99C8-B50E0B6FBAA7}"/>
              </a:ext>
            </a:extLst>
          </p:cNvPr>
          <p:cNvSpPr>
            <a:spLocks noGrp="1"/>
          </p:cNvSpPr>
          <p:nvPr/>
        </p:nvSpPr>
        <p:spPr>
          <a:xfrm>
            <a:off x="657225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558568-8C8A-4CB0-BA88-9FC9F325362E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Gemini 摘要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F7653F-26B6-4D93-A0D8-3FDFF6D1CBAB}"/>
              </a:ext>
            </a:extLst>
          </p:cNvPr>
          <p:cNvSpPr>
            <a:spLocks noGrp="1"/>
          </p:cNvSpPr>
          <p:nvPr/>
        </p:nvSpPr>
        <p:spPr>
          <a:xfrm>
            <a:off x="654367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重點／待辦／決策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17426F-297E-41D5-84C1-5044982BE838}"/>
              </a:ext>
            </a:extLst>
          </p:cNvPr>
          <p:cNvSpPr>
            <a:spLocks noGrp="1"/>
          </p:cNvSpPr>
          <p:nvPr/>
        </p:nvSpPr>
        <p:spPr>
          <a:xfrm>
            <a:off x="7886700" y="2428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B75320D4-2E74-4CF1-B029-687B77F87008}"/>
              </a:ext>
            </a:extLst>
          </p:cNvPr>
          <p:cNvSpPr>
            <a:spLocks noGrp="1"/>
          </p:cNvSpPr>
          <p:nvPr/>
        </p:nvSpPr>
        <p:spPr>
          <a:xfrm>
            <a:off x="842962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5631C1-F448-41E4-8E75-32A3CE23E129}"/>
              </a:ext>
            </a:extLst>
          </p:cNvPr>
          <p:cNvSpPr>
            <a:spLocks noGrp="1"/>
          </p:cNvSpPr>
          <p:nvPr/>
        </p:nvSpPr>
        <p:spPr>
          <a:xfrm>
            <a:off x="857250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EF108F-0DB0-4904-84DA-A1A204620971}"/>
              </a:ext>
            </a:extLst>
          </p:cNvPr>
          <p:cNvSpPr>
            <a:spLocks noGrp="1"/>
          </p:cNvSpPr>
          <p:nvPr/>
        </p:nvSpPr>
        <p:spPr>
          <a:xfrm>
            <a:off x="857250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818" lnSpcReduction="20000"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寫入 Google Doc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56B705-6A69-423B-BFC5-F82BF65945AD}"/>
              </a:ext>
            </a:extLst>
          </p:cNvPr>
          <p:cNvSpPr>
            <a:spLocks noGrp="1"/>
          </p:cNvSpPr>
          <p:nvPr/>
        </p:nvSpPr>
        <p:spPr>
          <a:xfrm>
            <a:off x="854392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建立權限文件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6643559-DA6C-4A8D-8985-4A30DAB83677}"/>
              </a:ext>
            </a:extLst>
          </p:cNvPr>
          <p:cNvSpPr>
            <a:spLocks noGrp="1"/>
          </p:cNvSpPr>
          <p:nvPr/>
        </p:nvSpPr>
        <p:spPr>
          <a:xfrm>
            <a:off x="9886950" y="2428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7551847-1F97-422C-B15B-2F8F57117444}"/>
              </a:ext>
            </a:extLst>
          </p:cNvPr>
          <p:cNvSpPr>
            <a:spLocks noGrp="1"/>
          </p:cNvSpPr>
          <p:nvPr/>
        </p:nvSpPr>
        <p:spPr>
          <a:xfrm>
            <a:off x="10429875" y="1905000"/>
            <a:ext cx="1428750" cy="1428750"/>
          </a:xfrm>
          <a:prstGeom prst="roundRect">
            <a:avLst>
              <a:gd name="adj" fmla="val 10667"/>
            </a:avLst>
          </a:prstGeom>
          <a:solidFill>
            <a:srgbClr val="DDF8E8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79700A-15E5-45D8-8EDF-CE1B78DF3C35}"/>
              </a:ext>
            </a:extLst>
          </p:cNvPr>
          <p:cNvSpPr>
            <a:spLocks noGrp="1"/>
          </p:cNvSpPr>
          <p:nvPr/>
        </p:nvSpPr>
        <p:spPr>
          <a:xfrm>
            <a:off x="10572750" y="2057400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892" lnSpcReduction="10000"/>
          </a:bodyPr>
          <a:lstStyle/>
          <a:p>
            <a:pPr algn="l">
              <a:def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2DADE8-94BD-4220-907F-F3E6DC4DCC88}"/>
              </a:ext>
            </a:extLst>
          </p:cNvPr>
          <p:cNvSpPr>
            <a:spLocks noGrp="1"/>
          </p:cNvSpPr>
          <p:nvPr/>
        </p:nvSpPr>
        <p:spPr>
          <a:xfrm>
            <a:off x="10572750" y="24574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回傳 URL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9A323B-9402-423F-A221-150FD7D1FA9F}"/>
              </a:ext>
            </a:extLst>
          </p:cNvPr>
          <p:cNvSpPr>
            <a:spLocks noGrp="1"/>
          </p:cNvSpPr>
          <p:nvPr/>
        </p:nvSpPr>
        <p:spPr>
          <a:xfrm>
            <a:off x="10544175" y="2981325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000" lnSpcReduction="20000"/>
          </a:bodyPr>
          <a:lstStyle/>
          <a:p>
            <a:pPr algn="ctr">
              <a:defRPr sz="10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dirty="0" err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群組可立即開啟</a:t>
            </a:r>
            <a:br>
              <a:rPr lang="en-US" sz="10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en-US" sz="10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lang="zh-TW" altLang="en-US" sz="10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權限控制</a:t>
            </a:r>
            <a:r>
              <a:rPr lang="en-US" altLang="zh-TW" sz="1050" b="0" dirty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sz="1050" b="0" dirty="0">
              <a:solidFill>
                <a:srgbClr val="66736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672E6C79-C2D6-45E8-8710-9610CD72727A}"/>
              </a:ext>
            </a:extLst>
          </p:cNvPr>
          <p:cNvSpPr>
            <a:spLocks noGrp="1"/>
          </p:cNvSpPr>
          <p:nvPr/>
        </p:nvSpPr>
        <p:spPr>
          <a:xfrm>
            <a:off x="1047750" y="3952875"/>
            <a:ext cx="10096500" cy="1381125"/>
          </a:xfrm>
          <a:prstGeom prst="roundRect">
            <a:avLst>
              <a:gd name="adj" fmla="val 11034"/>
            </a:avLst>
          </a:prstGeom>
          <a:solidFill>
            <a:srgbClr val="F7F9F8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B1C420-E857-400C-9699-0826725583F3}"/>
              </a:ext>
            </a:extLst>
          </p:cNvPr>
          <p:cNvSpPr>
            <a:spLocks noGrp="1"/>
          </p:cNvSpPr>
          <p:nvPr/>
        </p:nvSpPr>
        <p:spPr>
          <a:xfrm>
            <a:off x="1333500" y="41719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7273" lnSpcReduction="10000"/>
          </a:bodyPr>
          <a:lstStyle/>
          <a:p>
            <a:pPr algn="l">
              <a:defRPr sz="165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Daily 語音報告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8F99B9-7244-4E53-82CF-DD214AE7ACFD}"/>
              </a:ext>
            </a:extLst>
          </p:cNvPr>
          <p:cNvSpPr>
            <a:spLocks noGrp="1"/>
          </p:cNvSpPr>
          <p:nvPr/>
        </p:nvSpPr>
        <p:spPr>
          <a:xfrm>
            <a:off x="1333500" y="4572000"/>
            <a:ext cx="923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整合當日所有語音摘要，依主題合併重複內容，列出關鍵決策、行動項目、負責人及待確認資訊。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9A34FFF7-DDAC-4DA8-81F0-3A56101A626E}"/>
              </a:ext>
            </a:extLst>
          </p:cNvPr>
          <p:cNvSpPr>
            <a:spLocks noGrp="1"/>
          </p:cNvSpPr>
          <p:nvPr/>
        </p:nvSpPr>
        <p:spPr>
          <a:xfrm>
            <a:off x="2571750" y="5715000"/>
            <a:ext cx="1238250" cy="323850"/>
          </a:xfrm>
          <a:prstGeom prst="roundRect">
            <a:avLst>
              <a:gd name="adj" fmla="val 47059"/>
            </a:avLst>
          </a:prstGeom>
          <a:solidFill>
            <a:srgbClr val="DDF8E8"/>
          </a:solidFill>
          <a:ln w="9525">
            <a:solidFill>
              <a:srgbClr val="DDF8E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EFE261-D8E9-4836-8507-03A0CAC14AC8}"/>
              </a:ext>
            </a:extLst>
          </p:cNvPr>
          <p:cNvSpPr>
            <a:spLocks noGrp="1"/>
          </p:cNvSpPr>
          <p:nvPr/>
        </p:nvSpPr>
        <p:spPr>
          <a:xfrm>
            <a:off x="2667000" y="57531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可搜尋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397D1D46-6CB5-407B-AFA9-0937E667405D}"/>
              </a:ext>
            </a:extLst>
          </p:cNvPr>
          <p:cNvSpPr>
            <a:spLocks noGrp="1"/>
          </p:cNvSpPr>
          <p:nvPr/>
        </p:nvSpPr>
        <p:spPr>
          <a:xfrm>
            <a:off x="4191000" y="5715000"/>
            <a:ext cx="1238250" cy="323850"/>
          </a:xfrm>
          <a:prstGeom prst="roundRect">
            <a:avLst>
              <a:gd name="adj" fmla="val 47059"/>
            </a:avLst>
          </a:prstGeom>
          <a:solidFill>
            <a:srgbClr val="EEF4FF"/>
          </a:solidFill>
          <a:ln w="9525">
            <a:solidFill>
              <a:srgbClr val="EEF4F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B699E0-C48D-4DD3-9645-7B3E55A983E6}"/>
              </a:ext>
            </a:extLst>
          </p:cNvPr>
          <p:cNvSpPr>
            <a:spLocks noGrp="1"/>
          </p:cNvSpPr>
          <p:nvPr/>
        </p:nvSpPr>
        <p:spPr>
          <a:xfrm>
            <a:off x="4286250" y="57531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可分享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BC68418F-C4FC-4426-AD83-2BFCD90B5C03}"/>
              </a:ext>
            </a:extLst>
          </p:cNvPr>
          <p:cNvSpPr>
            <a:spLocks noGrp="1"/>
          </p:cNvSpPr>
          <p:nvPr/>
        </p:nvSpPr>
        <p:spPr>
          <a:xfrm>
            <a:off x="5810250" y="5715000"/>
            <a:ext cx="1238250" cy="323850"/>
          </a:xfrm>
          <a:prstGeom prst="roundRect">
            <a:avLst>
              <a:gd name="adj" fmla="val 47059"/>
            </a:avLst>
          </a:prstGeom>
          <a:solidFill>
            <a:srgbClr val="FFF4DE"/>
          </a:solidFill>
          <a:ln w="9525">
            <a:solidFill>
              <a:srgbClr val="FFF4D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79CC309-089C-476C-9F27-FD552CECFF82}"/>
              </a:ext>
            </a:extLst>
          </p:cNvPr>
          <p:cNvSpPr>
            <a:spLocks noGrp="1"/>
          </p:cNvSpPr>
          <p:nvPr/>
        </p:nvSpPr>
        <p:spPr>
          <a:xfrm>
            <a:off x="5905500" y="57531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B46D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46D00"/>
                </a:solidFill>
                <a:latin typeface="Microsoft JhengHei"/>
                <a:ea typeface="Microsoft JhengHei"/>
                <a:cs typeface="Microsoft JhengHei"/>
              </a:rPr>
              <a:t>可追蹤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648AF74-3AC5-40F0-8D15-BC33AE8F2B28}"/>
              </a:ext>
            </a:extLst>
          </p:cNvPr>
          <p:cNvSpPr>
            <a:spLocks noGrp="1"/>
          </p:cNvSpPr>
          <p:nvPr/>
        </p:nvSpPr>
        <p:spPr>
          <a:xfrm>
            <a:off x="7429500" y="5715000"/>
            <a:ext cx="1238250" cy="323850"/>
          </a:xfrm>
          <a:prstGeom prst="roundRect">
            <a:avLst>
              <a:gd name="adj" fmla="val 47059"/>
            </a:avLst>
          </a:prstGeom>
          <a:solidFill>
            <a:srgbClr val="F4EEFC"/>
          </a:solidFill>
          <a:ln w="9525">
            <a:solidFill>
              <a:srgbClr val="F4EEF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323378C-FDF0-4A1F-A3C8-0623235BFC35}"/>
              </a:ext>
            </a:extLst>
          </p:cNvPr>
          <p:cNvSpPr>
            <a:spLocks noGrp="1"/>
          </p:cNvSpPr>
          <p:nvPr/>
        </p:nvSpPr>
        <p:spPr>
          <a:xfrm>
            <a:off x="7524750" y="57531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可交接</a:t>
            </a:r>
          </a:p>
        </p:txBody>
      </p:sp>
    </p:spTree>
    <p:extLst>
      <p:ext uri="{BB962C8B-B14F-4D97-AF65-F5344CB8AC3E}">
        <p14:creationId xmlns:p14="http://schemas.microsoft.com/office/powerpoint/2010/main" val="142277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5024D4B7-433E-4F16-8BF8-38256E5C35A2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架構採分層設計，AI 只接觸任務所需內容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D8369-5B8E-4DD8-86B7-B567AD2F8346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核心原則：身份、內容、文件與稽核分離管理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801108-D62E-4E20-BF99-32B3096DCB71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45C296-428C-4109-A065-5B7F18743F4D}"/>
              </a:ext>
            </a:extLst>
          </p:cNvPr>
          <p:cNvSpPr>
            <a:spLocks noGrp="1"/>
          </p:cNvSpPr>
          <p:nvPr/>
        </p:nvSpPr>
        <p:spPr>
          <a:xfrm>
            <a:off x="2143125" y="27241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00105E-EFC0-4CB4-89CB-1198082C5D04}"/>
              </a:ext>
            </a:extLst>
          </p:cNvPr>
          <p:cNvSpPr>
            <a:spLocks noGrp="1"/>
          </p:cNvSpPr>
          <p:nvPr/>
        </p:nvSpPr>
        <p:spPr>
          <a:xfrm>
            <a:off x="4524375" y="27241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5974BF-A41B-4A8F-AAFC-1B6776775040}"/>
              </a:ext>
            </a:extLst>
          </p:cNvPr>
          <p:cNvSpPr>
            <a:spLocks noGrp="1"/>
          </p:cNvSpPr>
          <p:nvPr/>
        </p:nvSpPr>
        <p:spPr>
          <a:xfrm>
            <a:off x="6905625" y="27241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0EBF70-A4B3-4B33-84EC-06F2E477E2B4}"/>
              </a:ext>
            </a:extLst>
          </p:cNvPr>
          <p:cNvSpPr>
            <a:spLocks noGrp="1"/>
          </p:cNvSpPr>
          <p:nvPr/>
        </p:nvSpPr>
        <p:spPr>
          <a:xfrm>
            <a:off x="9286875" y="27241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944" lnSpcReduction="10000"/>
          </a:bodyPr>
          <a:lstStyle/>
          <a:p>
            <a:pPr algn="ctr">
              <a:def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3912F5-9C78-4FE5-9F7A-FBA3E5D250B1}"/>
              </a:ext>
            </a:extLst>
          </p:cNvPr>
          <p:cNvSpPr>
            <a:spLocks noGrp="1"/>
          </p:cNvSpPr>
          <p:nvPr/>
        </p:nvSpPr>
        <p:spPr>
          <a:xfrm>
            <a:off x="523875" y="2095500"/>
            <a:ext cx="1809750" cy="1524000"/>
          </a:xfrm>
          <a:prstGeom prst="roundRect">
            <a:avLst>
              <a:gd name="adj" fmla="val 10000"/>
            </a:avLst>
          </a:prstGeom>
          <a:solidFill>
            <a:srgbClr val="DDF8E8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6609FB-2F17-459A-BAAD-520D09DF10F8}"/>
              </a:ext>
            </a:extLst>
          </p:cNvPr>
          <p:cNvSpPr>
            <a:spLocks noGrp="1"/>
          </p:cNvSpPr>
          <p:nvPr/>
        </p:nvSpPr>
        <p:spPr>
          <a:xfrm>
            <a:off x="714375" y="2343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2"/>
          </a:bodyPr>
          <a:lstStyle/>
          <a:p>
            <a:pPr algn="ctr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LINE 平台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5638AD-9C9C-4D5B-9908-729AEE72CB2F}"/>
              </a:ext>
            </a:extLst>
          </p:cNvPr>
          <p:cNvSpPr>
            <a:spLocks noGrp="1"/>
          </p:cNvSpPr>
          <p:nvPr/>
        </p:nvSpPr>
        <p:spPr>
          <a:xfrm>
            <a:off x="695325" y="2924175"/>
            <a:ext cx="1466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792"/>
          </a:bodyPr>
          <a:lstStyle/>
          <a:p>
            <a:pPr algn="ctr">
              <a:def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Webhook／Messaging API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CE31332-BEED-4D66-A88C-E311254F2E45}"/>
              </a:ext>
            </a:extLst>
          </p:cNvPr>
          <p:cNvSpPr>
            <a:spLocks noGrp="1"/>
          </p:cNvSpPr>
          <p:nvPr/>
        </p:nvSpPr>
        <p:spPr>
          <a:xfrm>
            <a:off x="2714625" y="2095500"/>
            <a:ext cx="18097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73E697-4831-40AE-976A-20B7FE6FE654}"/>
              </a:ext>
            </a:extLst>
          </p:cNvPr>
          <p:cNvSpPr>
            <a:spLocks noGrp="1"/>
          </p:cNvSpPr>
          <p:nvPr/>
        </p:nvSpPr>
        <p:spPr>
          <a:xfrm>
            <a:off x="2905125" y="2343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2"/>
          </a:bodyPr>
          <a:lstStyle/>
          <a:p>
            <a:pPr algn="ctr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Bot 應用服務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B8A58A-E199-4FB6-B237-12D5466FE04F}"/>
              </a:ext>
            </a:extLst>
          </p:cNvPr>
          <p:cNvSpPr>
            <a:spLocks noGrp="1"/>
          </p:cNvSpPr>
          <p:nvPr/>
        </p:nvSpPr>
        <p:spPr>
          <a:xfrm>
            <a:off x="2886075" y="2924175"/>
            <a:ext cx="1466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lnSpcReduction="10000"/>
          </a:bodyPr>
          <a:lstStyle/>
          <a:p>
            <a:pPr algn="ctr">
              <a:def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流程控制／排程／權限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355640F-1F5F-4613-A5BB-448E9F0A8716}"/>
              </a:ext>
            </a:extLst>
          </p:cNvPr>
          <p:cNvSpPr>
            <a:spLocks noGrp="1"/>
          </p:cNvSpPr>
          <p:nvPr/>
        </p:nvSpPr>
        <p:spPr>
          <a:xfrm>
            <a:off x="5095875" y="2095500"/>
            <a:ext cx="1809750" cy="15240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 w="9525">
            <a:solidFill>
              <a:srgbClr val="9B72C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6F38D8-7C9A-497A-B22F-6D7FE26C01A8}"/>
              </a:ext>
            </a:extLst>
          </p:cNvPr>
          <p:cNvSpPr>
            <a:spLocks noGrp="1"/>
          </p:cNvSpPr>
          <p:nvPr/>
        </p:nvSpPr>
        <p:spPr>
          <a:xfrm>
            <a:off x="5286375" y="2343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2"/>
          </a:bodyPr>
          <a:lstStyle/>
          <a:p>
            <a:pPr algn="ctr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AI 服務層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83820C-04D5-4FE0-8CB5-5FE5C4BB2C04}"/>
              </a:ext>
            </a:extLst>
          </p:cNvPr>
          <p:cNvSpPr>
            <a:spLocks noGrp="1"/>
          </p:cNvSpPr>
          <p:nvPr/>
        </p:nvSpPr>
        <p:spPr>
          <a:xfrm>
            <a:off x="5267325" y="2924175"/>
            <a:ext cx="1466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lnSpcReduction="10000"/>
          </a:bodyPr>
          <a:lstStyle/>
          <a:p>
            <a:pPr algn="ctr">
              <a:def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語音辨識／Gemini 摘要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3094515-7B7E-4057-9C34-4E1E24FDE0EA}"/>
              </a:ext>
            </a:extLst>
          </p:cNvPr>
          <p:cNvSpPr>
            <a:spLocks noGrp="1"/>
          </p:cNvSpPr>
          <p:nvPr/>
        </p:nvSpPr>
        <p:spPr>
          <a:xfrm>
            <a:off x="7477125" y="2095500"/>
            <a:ext cx="18097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0CFC5B-3B6D-4EBB-A765-68AA61AAFCEA}"/>
              </a:ext>
            </a:extLst>
          </p:cNvPr>
          <p:cNvSpPr>
            <a:spLocks noGrp="1"/>
          </p:cNvSpPr>
          <p:nvPr/>
        </p:nvSpPr>
        <p:spPr>
          <a:xfrm>
            <a:off x="7667625" y="2343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2"/>
          </a:bodyPr>
          <a:lstStyle/>
          <a:p>
            <a:pPr algn="ctr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資料與文件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0A8344-3CCB-49E1-8CAD-0A8941ADB36A}"/>
              </a:ext>
            </a:extLst>
          </p:cNvPr>
          <p:cNvSpPr>
            <a:spLocks noGrp="1"/>
          </p:cNvSpPr>
          <p:nvPr/>
        </p:nvSpPr>
        <p:spPr>
          <a:xfrm>
            <a:off x="7648575" y="2924175"/>
            <a:ext cx="1466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lnSpcReduction="10000"/>
          </a:bodyPr>
          <a:lstStyle/>
          <a:p>
            <a:pPr algn="ctr">
              <a:def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員工對應／Google Doc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8EDF4926-8528-4386-A5B6-1B4B2D0F32CE}"/>
              </a:ext>
            </a:extLst>
          </p:cNvPr>
          <p:cNvSpPr>
            <a:spLocks noGrp="1"/>
          </p:cNvSpPr>
          <p:nvPr/>
        </p:nvSpPr>
        <p:spPr>
          <a:xfrm>
            <a:off x="9858375" y="2095500"/>
            <a:ext cx="1809750" cy="1524000"/>
          </a:xfrm>
          <a:prstGeom prst="roundRect">
            <a:avLst>
              <a:gd name="adj" fmla="val 10000"/>
            </a:avLst>
          </a:prstGeom>
          <a:solidFill>
            <a:srgbClr val="F7F9F8"/>
          </a:solidFill>
          <a:ln w="9525">
            <a:solidFill>
              <a:srgbClr val="E15B64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A6CF34-A5AF-4602-BD8A-C700FB35128A}"/>
              </a:ext>
            </a:extLst>
          </p:cNvPr>
          <p:cNvSpPr>
            <a:spLocks noGrp="1"/>
          </p:cNvSpPr>
          <p:nvPr/>
        </p:nvSpPr>
        <p:spPr>
          <a:xfrm>
            <a:off x="10048875" y="2343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2"/>
          </a:bodyPr>
          <a:lstStyle/>
          <a:p>
            <a:pPr algn="ctr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管理與稽核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7EE6A4-8E69-4788-8ED1-2B3F58E69831}"/>
              </a:ext>
            </a:extLst>
          </p:cNvPr>
          <p:cNvSpPr>
            <a:spLocks noGrp="1"/>
          </p:cNvSpPr>
          <p:nvPr/>
        </p:nvSpPr>
        <p:spPr>
          <a:xfrm>
            <a:off x="10029825" y="2924175"/>
            <a:ext cx="1466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設定／紀錄／告警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3321015-365C-479B-BDF7-271809F273D4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31255B-C079-43AA-9B4C-DD18C1FC75F7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5F4DCB-99F1-4596-9D3D-ED9E69EC2027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員工身份：SSO／OTP 驗證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09EE08E-F37C-4E7B-9717-6AB4D5F0C9DA}"/>
              </a:ext>
            </a:extLst>
          </p:cNvPr>
          <p:cNvSpPr>
            <a:spLocks noGrp="1"/>
          </p:cNvSpPr>
          <p:nvPr/>
        </p:nvSpPr>
        <p:spPr>
          <a:xfrm>
            <a:off x="4286250" y="419100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BFCA34-DAAB-457E-B18F-77D3240FB707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38A9B9-4068-43C5-BB8F-4CED39D76E9A}"/>
              </a:ext>
            </a:extLst>
          </p:cNvPr>
          <p:cNvSpPr>
            <a:spLocks noGrp="1"/>
          </p:cNvSpPr>
          <p:nvPr/>
        </p:nvSpPr>
        <p:spPr>
          <a:xfrm>
            <a:off x="4762500" y="43338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000" lnSpcReduction="10000"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資料最小化：不將敏感主檔寫入 LINE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52ADB2F2-9EE0-40DD-9C63-447987B35A2D}"/>
              </a:ext>
            </a:extLst>
          </p:cNvPr>
          <p:cNvSpPr>
            <a:spLocks noGrp="1"/>
          </p:cNvSpPr>
          <p:nvPr/>
        </p:nvSpPr>
        <p:spPr>
          <a:xfrm>
            <a:off x="8001000" y="419100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850350-80E0-4FE4-B12D-14EDA40787B8}"/>
              </a:ext>
            </a:extLst>
          </p:cNvPr>
          <p:cNvSpPr>
            <a:spLocks noGrp="1"/>
          </p:cNvSpPr>
          <p:nvPr/>
        </p:nvSpPr>
        <p:spPr>
          <a:xfrm>
            <a:off x="8153400" y="4324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50495E-8D4A-4DF1-84E1-2F63D37E0EF4}"/>
              </a:ext>
            </a:extLst>
          </p:cNvPr>
          <p:cNvSpPr>
            <a:spLocks noGrp="1"/>
          </p:cNvSpPr>
          <p:nvPr/>
        </p:nvSpPr>
        <p:spPr>
          <a:xfrm>
            <a:off x="8477250" y="433387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權限控管：文件依群組／角色授權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4EC10594-FA41-43E3-AEC7-A4B479CF5FA6}"/>
              </a:ext>
            </a:extLst>
          </p:cNvPr>
          <p:cNvSpPr>
            <a:spLocks noGrp="1"/>
          </p:cNvSpPr>
          <p:nvPr/>
        </p:nvSpPr>
        <p:spPr>
          <a:xfrm>
            <a:off x="571500" y="497205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32F2B8-EC6D-4676-A610-BD161CAE92AC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6B6CF2-5E06-46B4-973B-F88D8BB86C89}"/>
              </a:ext>
            </a:extLst>
          </p:cNvPr>
          <p:cNvSpPr>
            <a:spLocks noGrp="1"/>
          </p:cNvSpPr>
          <p:nvPr/>
        </p:nvSpPr>
        <p:spPr>
          <a:xfrm>
            <a:off x="1047750" y="51149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保存政策：語音暫存後自動清除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E5A864C0-3230-4A70-A1C6-F248B9517308}"/>
              </a:ext>
            </a:extLst>
          </p:cNvPr>
          <p:cNvSpPr>
            <a:spLocks noGrp="1"/>
          </p:cNvSpPr>
          <p:nvPr/>
        </p:nvSpPr>
        <p:spPr>
          <a:xfrm>
            <a:off x="4286250" y="497205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59B85E-43F6-427E-9385-1AA877F305C0}"/>
              </a:ext>
            </a:extLst>
          </p:cNvPr>
          <p:cNvSpPr>
            <a:spLocks noGrp="1"/>
          </p:cNvSpPr>
          <p:nvPr/>
        </p:nvSpPr>
        <p:spPr>
          <a:xfrm>
            <a:off x="4438650" y="5105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318A28A-3017-4CC6-9009-5C45D0F311EF}"/>
              </a:ext>
            </a:extLst>
          </p:cNvPr>
          <p:cNvSpPr>
            <a:spLocks noGrp="1"/>
          </p:cNvSpPr>
          <p:nvPr/>
        </p:nvSpPr>
        <p:spPr>
          <a:xfrm>
            <a:off x="4762500" y="51149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AI 治理：遮罩敏感資訊、保留來源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07952343-CAF2-412C-8AFB-4AE32393FB60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3F7F5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136B0D-B66C-4C64-BC64-F59C13C385CF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330" lnSpcReduction="10000"/>
          </a:bodyPr>
          <a:lstStyle/>
          <a:p>
            <a:pPr algn="l">
              <a:def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64C4950-C7FB-40D5-B856-3152FB23C55B}"/>
              </a:ext>
            </a:extLst>
          </p:cNvPr>
          <p:cNvSpPr>
            <a:spLocks noGrp="1"/>
          </p:cNvSpPr>
          <p:nvPr/>
        </p:nvSpPr>
        <p:spPr>
          <a:xfrm>
            <a:off x="8477250" y="51149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000" lnSpcReduction="10000"/>
          </a:bodyPr>
          <a:lstStyle/>
          <a:p>
            <a:pPr algn="l">
              <a:def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稽核追蹤：推播、摘要、異常皆留紀錄</a:t>
            </a:r>
          </a:p>
        </p:txBody>
      </p:sp>
    </p:spTree>
    <p:extLst>
      <p:ext uri="{BB962C8B-B14F-4D97-AF65-F5344CB8AC3E}">
        <p14:creationId xmlns:p14="http://schemas.microsoft.com/office/powerpoint/2010/main" val="122293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DC8C747-5DBE-42D4-BB27-0714296F1AB8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85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建議以 12 週 MVP 驗證，再擴大到更多群組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7A5104-2E05-4B51-9635-B71F1D17C51E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時程與成本需於需求盤點後校準；先從單一試辦群組建立可量測成果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2F58E1-E6BD-4108-9CFF-72AED6ACF7B0}"/>
              </a:ext>
            </a:extLst>
          </p:cNvPr>
          <p:cNvSpPr>
            <a:spLocks noGrp="1"/>
          </p:cNvSpPr>
          <p:nvPr/>
        </p:nvSpPr>
        <p:spPr>
          <a:xfrm>
            <a:off x="11353800" y="63341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3E0B8FB-377A-4FE7-AC29-06CDCF46F152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23812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5880BD6-27DF-4BF3-87C6-30ACA897DEBA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2381250" cy="9525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ECCEF4-08D8-41F7-8704-2B1C5DEABDAA}"/>
              </a:ext>
            </a:extLst>
          </p:cNvPr>
          <p:cNvSpPr>
            <a:spLocks noGrp="1"/>
          </p:cNvSpPr>
          <p:nvPr/>
        </p:nvSpPr>
        <p:spPr>
          <a:xfrm>
            <a:off x="733425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33"/>
          </a:bodyPr>
          <a:lstStyle/>
          <a:p>
            <a:pPr algn="l">
              <a:defRPr sz="120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285F4"/>
                </a:solidFill>
                <a:latin typeface="Microsoft JhengHei"/>
                <a:ea typeface="Microsoft JhengHei"/>
                <a:cs typeface="Microsoft JhengHei"/>
              </a:rPr>
              <a:t>第 1–2 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5D721D-6A27-49B0-B2BF-0746FBC73579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需求與治理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37D2E3-F9DC-4F8A-B341-E8499E7FFA88}"/>
              </a:ext>
            </a:extLst>
          </p:cNvPr>
          <p:cNvSpPr>
            <a:spLocks noGrp="1"/>
          </p:cNvSpPr>
          <p:nvPr/>
        </p:nvSpPr>
        <p:spPr>
          <a:xfrm>
            <a:off x="733425" y="3048000"/>
            <a:ext cx="1962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確認試辦群組、資料範圍、身份來源、文件權限與保存政策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E30F7AB-1D39-4246-A0A1-F41069BE5481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23812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2B3A14F-9E9B-401B-A732-CDA6461B50E5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2381250" cy="95250"/>
          </a:xfrm>
          <a:prstGeom prst="roundRect">
            <a:avLst>
              <a:gd name="adj" fmla="val 50000"/>
            </a:avLst>
          </a:prstGeom>
          <a:solidFill>
            <a:srgbClr val="06C755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A087CC-B7EF-4D6E-9B03-9CC89242A67D}"/>
              </a:ext>
            </a:extLst>
          </p:cNvPr>
          <p:cNvSpPr>
            <a:spLocks noGrp="1"/>
          </p:cNvSpPr>
          <p:nvPr/>
        </p:nvSpPr>
        <p:spPr>
          <a:xfrm>
            <a:off x="3400425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33"/>
          </a:bodyPr>
          <a:lstStyle/>
          <a:p>
            <a:pPr algn="l">
              <a:defRPr sz="120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6C755"/>
                </a:solidFill>
                <a:latin typeface="Microsoft JhengHei"/>
                <a:ea typeface="Microsoft JhengHei"/>
                <a:cs typeface="Microsoft JhengHei"/>
              </a:rPr>
              <a:t>第 3–6 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115EF4-7D00-40DB-92A8-5F2679C5BE98}"/>
              </a:ext>
            </a:extLst>
          </p:cNvPr>
          <p:cNvSpPr>
            <a:spLocks noGrp="1"/>
          </p:cNvSpPr>
          <p:nvPr/>
        </p:nvSpPr>
        <p:spPr>
          <a:xfrm>
            <a:off x="3400425" y="24193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身份＋推播 MVP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092759-955D-4B0C-A5FC-BEC7D5D15E32}"/>
              </a:ext>
            </a:extLst>
          </p:cNvPr>
          <p:cNvSpPr>
            <a:spLocks noGrp="1"/>
          </p:cNvSpPr>
          <p:nvPr/>
        </p:nvSpPr>
        <p:spPr>
          <a:xfrm>
            <a:off x="3400425" y="3048000"/>
            <a:ext cx="1962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完成員工綁定、分眾標籤、訊息模板與管理設定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53565D1-9802-4CA0-A7E9-31AC844E14C9}"/>
              </a:ext>
            </a:extLst>
          </p:cNvPr>
          <p:cNvSpPr>
            <a:spLocks noGrp="1"/>
          </p:cNvSpPr>
          <p:nvPr/>
        </p:nvSpPr>
        <p:spPr>
          <a:xfrm>
            <a:off x="5857875" y="1714500"/>
            <a:ext cx="238125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BE6B660-3D0A-4DC7-A853-FB3C40D61A1B}"/>
              </a:ext>
            </a:extLst>
          </p:cNvPr>
          <p:cNvSpPr>
            <a:spLocks noGrp="1"/>
          </p:cNvSpPr>
          <p:nvPr/>
        </p:nvSpPr>
        <p:spPr>
          <a:xfrm>
            <a:off x="5857875" y="1714500"/>
            <a:ext cx="2381250" cy="95250"/>
          </a:xfrm>
          <a:prstGeom prst="roundRect">
            <a:avLst>
              <a:gd name="adj" fmla="val 50000"/>
            </a:avLst>
          </a:prstGeom>
          <a:solidFill>
            <a:srgbClr val="9B72CB"/>
          </a:solidFill>
          <a:ln w="9525">
            <a:solidFill>
              <a:srgbClr val="9B72C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5496A3-3286-4F59-8C93-F5FCC22DAD77}"/>
              </a:ext>
            </a:extLst>
          </p:cNvPr>
          <p:cNvSpPr>
            <a:spLocks noGrp="1"/>
          </p:cNvSpPr>
          <p:nvPr/>
        </p:nvSpPr>
        <p:spPr>
          <a:xfrm>
            <a:off x="6067425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33"/>
          </a:bodyPr>
          <a:lstStyle/>
          <a:p>
            <a:pPr algn="l">
              <a:defRPr sz="120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9B72CB"/>
                </a:solidFill>
                <a:latin typeface="Microsoft JhengHei"/>
                <a:ea typeface="Microsoft JhengHei"/>
                <a:cs typeface="Microsoft JhengHei"/>
              </a:rPr>
              <a:t>第 7–10 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21906A-BA3C-4BBE-A57D-2443D26DC1ED}"/>
              </a:ext>
            </a:extLst>
          </p:cNvPr>
          <p:cNvSpPr>
            <a:spLocks noGrp="1"/>
          </p:cNvSpPr>
          <p:nvPr/>
        </p:nvSpPr>
        <p:spPr>
          <a:xfrm>
            <a:off x="6067425" y="24193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群聊＋小露露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A86427-8026-4AEE-BF28-26B0E2742F8E}"/>
              </a:ext>
            </a:extLst>
          </p:cNvPr>
          <p:cNvSpPr>
            <a:spLocks noGrp="1"/>
          </p:cNvSpPr>
          <p:nvPr/>
        </p:nvSpPr>
        <p:spPr>
          <a:xfrm>
            <a:off x="6067425" y="3048000"/>
            <a:ext cx="1962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完成 Daily 彙整、語音轉錄、Google Doc 與 URL 回傳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CAF78AA-5F31-4270-AFE4-73CC4028EC47}"/>
              </a:ext>
            </a:extLst>
          </p:cNvPr>
          <p:cNvSpPr>
            <a:spLocks noGrp="1"/>
          </p:cNvSpPr>
          <p:nvPr/>
        </p:nvSpPr>
        <p:spPr>
          <a:xfrm>
            <a:off x="8524875" y="1714500"/>
            <a:ext cx="28575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3DD"/>
            </a:solidFill>
            <a:prstDash val="solid"/>
          </a:ln>
        </p:spPr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E39E671-C8DB-453E-A55C-4BAF2AF432BD}"/>
              </a:ext>
            </a:extLst>
          </p:cNvPr>
          <p:cNvSpPr>
            <a:spLocks noGrp="1"/>
          </p:cNvSpPr>
          <p:nvPr/>
        </p:nvSpPr>
        <p:spPr>
          <a:xfrm>
            <a:off x="8524875" y="1714500"/>
            <a:ext cx="2857500" cy="9525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C14092-F6FD-4966-A604-2A945C790413}"/>
              </a:ext>
            </a:extLst>
          </p:cNvPr>
          <p:cNvSpPr>
            <a:spLocks noGrp="1"/>
          </p:cNvSpPr>
          <p:nvPr/>
        </p:nvSpPr>
        <p:spPr>
          <a:xfrm>
            <a:off x="8734425" y="20002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33"/>
          </a:bodyPr>
          <a:lstStyle/>
          <a:p>
            <a:pPr algn="l">
              <a:defRPr sz="120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B547"/>
                </a:solidFill>
                <a:latin typeface="Microsoft JhengHei"/>
                <a:ea typeface="Microsoft JhengHei"/>
                <a:cs typeface="Microsoft JhengHei"/>
              </a:rPr>
              <a:t>第 11–12 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C9D23E-7975-4257-AEA2-35DC522206B1}"/>
              </a:ext>
            </a:extLst>
          </p:cNvPr>
          <p:cNvSpPr>
            <a:spLocks noGrp="1"/>
          </p:cNvSpPr>
          <p:nvPr/>
        </p:nvSpPr>
        <p:spPr>
          <a:xfrm>
            <a:off x="8734425" y="241935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試辦與成效驗證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7619DF-352F-41C0-969B-F9B3DAF2F773}"/>
              </a:ext>
            </a:extLst>
          </p:cNvPr>
          <p:cNvSpPr>
            <a:spLocks noGrp="1"/>
          </p:cNvSpPr>
          <p:nvPr/>
        </p:nvSpPr>
        <p:spPr>
          <a:xfrm>
            <a:off x="8734425" y="3048000"/>
            <a:ext cx="2438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36C"/>
                </a:solidFill>
                <a:latin typeface="Microsoft JhengHei"/>
                <a:ea typeface="Microsoft JhengHei"/>
                <a:cs typeface="Microsoft JhengHei"/>
              </a:rPr>
              <a:t>調整摘要品質、權限與告警，提出正式上線評估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AA7AEE-D318-4232-9F73-381FFF884DA3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659" lnSpcReduction="10000"/>
          </a:bodyPr>
          <a:lstStyle/>
          <a:p>
            <a:pPr algn="l">
              <a:def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MVP 驗收指標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8D8ED8B-937D-405F-B17D-7351360444EA}"/>
              </a:ext>
            </a:extLst>
          </p:cNvPr>
          <p:cNvSpPr>
            <a:spLocks noGrp="1"/>
          </p:cNvSpPr>
          <p:nvPr/>
        </p:nvSpPr>
        <p:spPr>
          <a:xfrm>
            <a:off x="552450" y="4953000"/>
            <a:ext cx="1857375" cy="323850"/>
          </a:xfrm>
          <a:prstGeom prst="roundRect">
            <a:avLst>
              <a:gd name="adj" fmla="val 47059"/>
            </a:avLst>
          </a:prstGeom>
          <a:solidFill>
            <a:srgbClr val="F3F7F5"/>
          </a:solidFill>
          <a:ln w="9525">
            <a:solidFill>
              <a:srgbClr val="F3F7F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3FB81C-A243-4715-A034-19CFFE03D2E3}"/>
              </a:ext>
            </a:extLst>
          </p:cNvPr>
          <p:cNvSpPr>
            <a:spLocks noGrp="1"/>
          </p:cNvSpPr>
          <p:nvPr/>
        </p:nvSpPr>
        <p:spPr>
          <a:xfrm>
            <a:off x="647700" y="49911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身份綁定成功率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01C95BA-A48D-406E-8BE0-ACC876A05541}"/>
              </a:ext>
            </a:extLst>
          </p:cNvPr>
          <p:cNvSpPr>
            <a:spLocks noGrp="1"/>
          </p:cNvSpPr>
          <p:nvPr/>
        </p:nvSpPr>
        <p:spPr>
          <a:xfrm>
            <a:off x="2695575" y="4953000"/>
            <a:ext cx="1857375" cy="323850"/>
          </a:xfrm>
          <a:prstGeom prst="roundRect">
            <a:avLst>
              <a:gd name="adj" fmla="val 47059"/>
            </a:avLst>
          </a:prstGeom>
          <a:solidFill>
            <a:srgbClr val="F3F7F5"/>
          </a:solidFill>
          <a:ln w="9525">
            <a:solidFill>
              <a:srgbClr val="F3F7F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55677D-8BB7-4939-874E-10075F871A58}"/>
              </a:ext>
            </a:extLst>
          </p:cNvPr>
          <p:cNvSpPr>
            <a:spLocks noGrp="1"/>
          </p:cNvSpPr>
          <p:nvPr/>
        </p:nvSpPr>
        <p:spPr>
          <a:xfrm>
            <a:off x="2790825" y="49911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Daily 準時產出率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2D96A206-79C1-4C84-8B24-EFDA335200A7}"/>
              </a:ext>
            </a:extLst>
          </p:cNvPr>
          <p:cNvSpPr>
            <a:spLocks noGrp="1"/>
          </p:cNvSpPr>
          <p:nvPr/>
        </p:nvSpPr>
        <p:spPr>
          <a:xfrm>
            <a:off x="4838700" y="4953000"/>
            <a:ext cx="1857375" cy="323850"/>
          </a:xfrm>
          <a:prstGeom prst="roundRect">
            <a:avLst>
              <a:gd name="adj" fmla="val 47059"/>
            </a:avLst>
          </a:prstGeom>
          <a:solidFill>
            <a:srgbClr val="F3F7F5"/>
          </a:solidFill>
          <a:ln w="9525">
            <a:solidFill>
              <a:srgbClr val="F3F7F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CA6332-E7AE-4AAA-82A5-CDE81DB5B15E}"/>
              </a:ext>
            </a:extLst>
          </p:cNvPr>
          <p:cNvSpPr>
            <a:spLocks noGrp="1"/>
          </p:cNvSpPr>
          <p:nvPr/>
        </p:nvSpPr>
        <p:spPr>
          <a:xfrm>
            <a:off x="4933950" y="49911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摘要採用／修正率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1B8AFB9E-DC79-4291-A324-10975953AE29}"/>
              </a:ext>
            </a:extLst>
          </p:cNvPr>
          <p:cNvSpPr>
            <a:spLocks noGrp="1"/>
          </p:cNvSpPr>
          <p:nvPr/>
        </p:nvSpPr>
        <p:spPr>
          <a:xfrm>
            <a:off x="6981825" y="4953000"/>
            <a:ext cx="1857375" cy="323850"/>
          </a:xfrm>
          <a:prstGeom prst="roundRect">
            <a:avLst>
              <a:gd name="adj" fmla="val 47059"/>
            </a:avLst>
          </a:prstGeom>
          <a:solidFill>
            <a:srgbClr val="F3F7F5"/>
          </a:solidFill>
          <a:ln w="9525">
            <a:solidFill>
              <a:srgbClr val="F3F7F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5C4AD4B-C138-44DE-A4D2-665217F30E1D}"/>
              </a:ext>
            </a:extLst>
          </p:cNvPr>
          <p:cNvSpPr>
            <a:spLocks noGrp="1"/>
          </p:cNvSpPr>
          <p:nvPr/>
        </p:nvSpPr>
        <p:spPr>
          <a:xfrm>
            <a:off x="7077075" y="49911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6201B"/>
                </a:solidFill>
                <a:latin typeface="Microsoft JhengHei"/>
                <a:ea typeface="Microsoft JhengHei"/>
                <a:cs typeface="Microsoft JhengHei"/>
              </a:rPr>
              <a:t>人工整理時間節省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8C68770B-3F96-4BD3-A705-9F7BD4211760}"/>
              </a:ext>
            </a:extLst>
          </p:cNvPr>
          <p:cNvSpPr>
            <a:spLocks noGrp="1"/>
          </p:cNvSpPr>
          <p:nvPr/>
        </p:nvSpPr>
        <p:spPr>
          <a:xfrm>
            <a:off x="9124950" y="4953000"/>
            <a:ext cx="1857375" cy="323850"/>
          </a:xfrm>
          <a:prstGeom prst="roundRect">
            <a:avLst>
              <a:gd name="adj" fmla="val 47059"/>
            </a:avLst>
          </a:prstGeom>
          <a:solidFill>
            <a:srgbClr val="FFF0F1"/>
          </a:solidFill>
          <a:ln w="9525">
            <a:solidFill>
              <a:srgbClr val="FFF0F1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917901-3709-4B4C-B6D9-147E78956B35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7500" lnSpcReduction="10000"/>
          </a:bodyPr>
          <a:lstStyle/>
          <a:p>
            <a:pPr algn="ctr">
              <a:defRPr sz="1125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15B64"/>
                </a:solidFill>
                <a:latin typeface="Microsoft JhengHei"/>
                <a:ea typeface="Microsoft JhengHei"/>
                <a:cs typeface="Microsoft JhengHei"/>
              </a:rPr>
              <a:t>權限與資安事件數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8CB424DA-66C8-4233-B5A4-8C1E0E81726F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10829925" cy="514350"/>
          </a:xfrm>
          <a:prstGeom prst="roundRect">
            <a:avLst>
              <a:gd name="adj" fmla="val 22222"/>
            </a:avLst>
          </a:prstGeom>
          <a:solidFill>
            <a:srgbClr val="06C755"/>
          </a:solidFill>
          <a:ln w="9525">
            <a:solidFill>
              <a:srgbClr val="06C75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922974-FB63-4803-909A-B5E86562836B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3016" lnSpcReduction="10000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本次請求決策：同意啟動需求盤點與單一群組 PoC，完成後再提正式開發範圍與預算。</a:t>
            </a:r>
          </a:p>
        </p:txBody>
      </p:sp>
    </p:spTree>
    <p:extLst>
      <p:ext uri="{BB962C8B-B14F-4D97-AF65-F5344CB8AC3E}">
        <p14:creationId xmlns:p14="http://schemas.microsoft.com/office/powerpoint/2010/main" val="15976405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DocSecurity>0</DocSecurity>
  <PresentationFormat>寬螢幕</PresentationFormat>
  <Paragraphs>170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chimoon kao</cp:lastModifiedBy>
  <cp:revision>1</cp:revision>
  <dcterms:created xsi:type="dcterms:W3CDTF">2026-07-22T07:38:21Z</dcterms:created>
  <dcterms:modified xsi:type="dcterms:W3CDTF">2026-07-22T08:13:01Z</dcterms:modified>
</cp:coreProperties>
</file>